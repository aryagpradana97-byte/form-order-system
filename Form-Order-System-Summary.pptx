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25D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FORM ORDER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01752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>
                <a:solidFill>
                  <a:srgbClr val="9FB0C4"/>
                </a:solidFill>
                <a:latin typeface="Arial"/>
              </a:rPr>
              <a:t>Order Form  +  Order Management  +  Multi-Platform Ad Tracking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57200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25D366"/>
                </a:solidFill>
                <a:latin typeface="Arial"/>
              </a:rPr>
              <a:t>github.com/aryagpradana97-byte/form-order-system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5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0F1B2D"/>
                </a:solidFill>
                <a:latin typeface="Arial"/>
              </a:rPr>
              <a:t>What It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F1B2D"/>
                </a:solidFill>
                <a:latin typeface="Arial"/>
              </a:rPr>
              <a:t>A single system that runs order forms across all ad platforms and captures every lead into one place — with tracking that fires only for the submitted form.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515600" cy="4846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005691"/>
                </a:solidFill>
                <a:latin typeface="Arial"/>
              </a:rPr>
              <a:t>•  </a:t>
            </a:r>
            <a:r>
              <a:rPr sz="1600" b="0">
                <a:solidFill>
                  <a:srgbClr val="0F1B2D"/>
                </a:solidFill>
                <a:latin typeface="Arial"/>
              </a:rPr>
              <a:t>Order forms for Meta, Google, TikTok, Microsoft &amp; organic traffic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005691"/>
                </a:solidFill>
                <a:latin typeface="Arial"/>
              </a:rPr>
              <a:t>•  </a:t>
            </a:r>
            <a:r>
              <a:rPr sz="1600" b="0">
                <a:solidFill>
                  <a:srgbClr val="0F1B2D"/>
                </a:solidFill>
                <a:latin typeface="Arial"/>
              </a:rPr>
              <a:t>One reusable tracking snippet handles ALL forms on a page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005691"/>
                </a:solidFill>
                <a:latin typeface="Arial"/>
              </a:rPr>
              <a:t>•  </a:t>
            </a:r>
            <a:r>
              <a:rPr sz="1600" b="0">
                <a:solidFill>
                  <a:srgbClr val="0F1B2D"/>
                </a:solidFill>
                <a:latin typeface="Arial"/>
              </a:rPr>
              <a:t>Every UTM + click ID stored together (not scattered)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005691"/>
                </a:solidFill>
                <a:latin typeface="Arial"/>
              </a:rPr>
              <a:t>•  </a:t>
            </a:r>
            <a:r>
              <a:rPr sz="1600" b="0">
                <a:solidFill>
                  <a:srgbClr val="0F1B2D"/>
                </a:solidFill>
                <a:latin typeface="Arial"/>
              </a:rPr>
              <a:t>New Google Sheet backup — never touches your existing sheets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5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0F1B2D"/>
                </a:solidFill>
                <a:latin typeface="Arial"/>
              </a:rPr>
              <a:t>Order Form Types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828800"/>
            <a:ext cx="2560320" cy="2377440"/>
          </a:xfrm>
          <a:prstGeom prst="rect">
            <a:avLst/>
          </a:prstGeom>
          <a:solidFill>
            <a:srgbClr val="F4F6F9"/>
          </a:solidFill>
          <a:ln w="12700">
            <a:solidFill>
              <a:srgbClr val="0056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828800"/>
            <a:ext cx="2560320" cy="640080"/>
          </a:xfrm>
          <a:prstGeom prst="rect">
            <a:avLst/>
          </a:prstGeom>
          <a:solidFill>
            <a:srgbClr val="005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01952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SHORT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51760"/>
            <a:ext cx="21945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F1B2D"/>
                </a:solidFill>
                <a:latin typeface="Arial"/>
              </a:rPr>
              <a:t>Name, Phone, Workshop — quick reservation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639312" y="1828800"/>
            <a:ext cx="2560320" cy="2377440"/>
          </a:xfrm>
          <a:prstGeom prst="rect">
            <a:avLst/>
          </a:prstGeom>
          <a:solidFill>
            <a:srgbClr val="F4F6F9"/>
          </a:solidFill>
          <a:ln w="12700">
            <a:solidFill>
              <a:srgbClr val="0056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39312" y="1828800"/>
            <a:ext cx="2560320" cy="640080"/>
          </a:xfrm>
          <a:prstGeom prst="rect">
            <a:avLst/>
          </a:prstGeom>
          <a:solidFill>
            <a:srgbClr val="005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22192" y="1901952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FULL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22192" y="2651760"/>
            <a:ext cx="21945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F1B2D"/>
                </a:solidFill>
                <a:latin typeface="Arial"/>
              </a:rPr>
              <a:t>Name, Phone, Plate, Car, Workshop, Complaint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55664" y="1828800"/>
            <a:ext cx="2560320" cy="2377440"/>
          </a:xfrm>
          <a:prstGeom prst="rect">
            <a:avLst/>
          </a:prstGeom>
          <a:solidFill>
            <a:srgbClr val="F4F6F9"/>
          </a:solidFill>
          <a:ln w="12700">
            <a:solidFill>
              <a:srgbClr val="0056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55664" y="1828800"/>
            <a:ext cx="2560320" cy="640080"/>
          </a:xfrm>
          <a:prstGeom prst="rect">
            <a:avLst/>
          </a:prstGeom>
          <a:solidFill>
            <a:srgbClr val="005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38544" y="1901952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DIRECT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38544" y="2651760"/>
            <a:ext cx="21945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F1B2D"/>
                </a:solidFill>
                <a:latin typeface="Arial"/>
              </a:rPr>
              <a:t>One-tap WhatsApp 'Consult now' button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72016" y="1828800"/>
            <a:ext cx="2560320" cy="2377440"/>
          </a:xfrm>
          <a:prstGeom prst="rect">
            <a:avLst/>
          </a:prstGeom>
          <a:solidFill>
            <a:srgbClr val="F4F6F9"/>
          </a:solidFill>
          <a:ln w="12700">
            <a:solidFill>
              <a:srgbClr val="0056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272016" y="1828800"/>
            <a:ext cx="2560320" cy="640080"/>
          </a:xfrm>
          <a:prstGeom prst="rect">
            <a:avLst/>
          </a:prstGeom>
          <a:solidFill>
            <a:srgbClr val="005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54896" y="1901952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ORDER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54896" y="2651760"/>
            <a:ext cx="21945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F1B2D"/>
                </a:solidFill>
                <a:latin typeface="Arial"/>
              </a:rPr>
              <a:t>Select products/services + quantities, auto total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66344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6B7686"/>
                </a:solidFill>
                <a:latin typeface="Arial"/>
              </a:rPr>
              <a:t>Each form is embeddable separately via 'Copy Embed' — generates a complete HTML block (form + tracking + pixel IDs) ready for Elementor / WordPress / any page.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Order Form — 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9FB0C4"/>
                </a:solidFill>
                <a:latin typeface="Arial"/>
              </a:rPr>
              <a:t>Live view of the dashboard / form</a:t>
            </a:r>
          </a:p>
        </p:txBody>
      </p:sp>
      <p:pic>
        <p:nvPicPr>
          <p:cNvPr id="5" name="Picture 4" descr="de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9431" y="1417320"/>
            <a:ext cx="7672832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5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0F1B2D"/>
                </a:solidFill>
                <a:latin typeface="Arial"/>
              </a:rPr>
              <a:t>Per-Form Tracking — the Core Fix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4846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005691"/>
                </a:solidFill>
                <a:latin typeface="Arial"/>
              </a:rPr>
              <a:t>•  </a:t>
            </a:r>
            <a:r>
              <a:rPr sz="1600" b="0">
                <a:solidFill>
                  <a:srgbClr val="0F1B2D"/>
                </a:solidFill>
                <a:latin typeface="Arial"/>
              </a:rPr>
              <a:t>Each form has its OWN toggle: Meta Pixel · GTM · TikTok · Google Ads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005691"/>
                </a:solidFill>
                <a:latin typeface="Arial"/>
              </a:rPr>
              <a:t>•  </a:t>
            </a:r>
            <a:r>
              <a:rPr sz="1600" b="0">
                <a:solidFill>
                  <a:srgbClr val="0F1B2D"/>
                </a:solidFill>
                <a:latin typeface="Arial"/>
              </a:rPr>
              <a:t>Pixels fire ONLY when the form is valid AND submitted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005691"/>
                </a:solidFill>
                <a:latin typeface="Arial"/>
              </a:rPr>
              <a:t>•  </a:t>
            </a:r>
            <a:r>
              <a:rPr sz="1600" b="0">
                <a:solidFill>
                  <a:srgbClr val="0F1B2D"/>
                </a:solidFill>
                <a:latin typeface="Arial"/>
              </a:rPr>
              <a:t>Draft / incomplete / invalid submits are still recorded as 'Draft' (not sent)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005691"/>
                </a:solidFill>
                <a:latin typeface="Arial"/>
              </a:rPr>
              <a:t>•  </a:t>
            </a:r>
            <a:r>
              <a:rPr sz="1600" b="0">
                <a:solidFill>
                  <a:srgbClr val="0F1B2D"/>
                </a:solidFill>
                <a:latin typeface="Arial"/>
              </a:rPr>
              <a:t>Pixel ID fields per form: Meta ID, TikTok ID, GTM container, Google Ads conversion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005691"/>
                </a:solidFill>
                <a:latin typeface="Arial"/>
              </a:rPr>
              <a:t>•  </a:t>
            </a:r>
            <a:r>
              <a:rPr sz="1600" b="0">
                <a:solidFill>
                  <a:srgbClr val="0F1B2D"/>
                </a:solidFill>
                <a:latin typeface="Arial"/>
              </a:rPr>
              <a:t>No more 'one form triggering every pixel on the page'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5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0F1B2D"/>
                </a:solidFill>
                <a:latin typeface="Arial"/>
              </a:rPr>
              <a:t>Consolidated Tracking (One Place)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554480"/>
            <a:ext cx="2194560" cy="566928"/>
          </a:xfrm>
          <a:prstGeom prst="rect">
            <a:avLst/>
          </a:prstGeom>
          <a:solidFill>
            <a:srgbClr val="005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27632"/>
            <a:ext cx="20116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UTM</a:t>
            </a:r>
          </a:p>
        </p:txBody>
      </p:sp>
      <p:sp>
        <p:nvSpPr>
          <p:cNvPr id="6" name="Rectangle 5"/>
          <p:cNvSpPr/>
          <p:nvPr/>
        </p:nvSpPr>
        <p:spPr>
          <a:xfrm>
            <a:off x="3017520" y="1554480"/>
            <a:ext cx="8321040" cy="56692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0" y="1627632"/>
            <a:ext cx="795527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>
                <a:solidFill>
                  <a:srgbClr val="0F1B2D"/>
                </a:solidFill>
                <a:latin typeface="Arial"/>
              </a:rPr>
              <a:t>utm_source, utm_medium, utm_campaign, utm_term, utm_content, utm_id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212848"/>
            <a:ext cx="2194560" cy="566928"/>
          </a:xfrm>
          <a:prstGeom prst="rect">
            <a:avLst/>
          </a:prstGeom>
          <a:solidFill>
            <a:srgbClr val="005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286000"/>
            <a:ext cx="20116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Generic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17520" y="2212848"/>
            <a:ext cx="8321040" cy="56692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0" y="2286000"/>
            <a:ext cx="795527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>
                <a:solidFill>
                  <a:srgbClr val="0F1B2D"/>
                </a:solidFill>
                <a:latin typeface="Arial"/>
              </a:rPr>
              <a:t>campaignId, adgroupId, adId, clickId, entityId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2871216"/>
            <a:ext cx="2194560" cy="566928"/>
          </a:xfrm>
          <a:prstGeom prst="rect">
            <a:avLst/>
          </a:prstGeom>
          <a:solidFill>
            <a:srgbClr val="005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44368"/>
            <a:ext cx="20116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Google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2871216"/>
            <a:ext cx="8321040" cy="56692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0" y="2944368"/>
            <a:ext cx="795527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>
                <a:solidFill>
                  <a:srgbClr val="0F1B2D"/>
                </a:solidFill>
                <a:latin typeface="Arial"/>
              </a:rPr>
              <a:t>gclid, gbraid, wbraid, gc_campaign_id, gc_adgroup_id, gc_ad_id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3529584"/>
            <a:ext cx="2194560" cy="566928"/>
          </a:xfrm>
          <a:prstGeom prst="rect">
            <a:avLst/>
          </a:prstGeom>
          <a:solidFill>
            <a:srgbClr val="005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602736"/>
            <a:ext cx="20116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Meta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017520" y="3529584"/>
            <a:ext cx="8321040" cy="56692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0" y="3602736"/>
            <a:ext cx="795527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>
                <a:solidFill>
                  <a:srgbClr val="0F1B2D"/>
                </a:solidFill>
                <a:latin typeface="Arial"/>
              </a:rPr>
              <a:t>fbclid, entity_id, fb_campaign_id, fb_adset_id, fb_ad_id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4187952"/>
            <a:ext cx="2194560" cy="566928"/>
          </a:xfrm>
          <a:prstGeom prst="rect">
            <a:avLst/>
          </a:prstGeom>
          <a:solidFill>
            <a:srgbClr val="005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4261104"/>
            <a:ext cx="20116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TikTok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017520" y="4187952"/>
            <a:ext cx="8321040" cy="56692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0400" y="4261104"/>
            <a:ext cx="795527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>
                <a:solidFill>
                  <a:srgbClr val="0F1B2D"/>
                </a:solidFill>
                <a:latin typeface="Arial"/>
              </a:rPr>
              <a:t>ttclid, tt_campaign_id, tt_adgroup_id, tt_ad_id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4846320"/>
            <a:ext cx="2194560" cy="566928"/>
          </a:xfrm>
          <a:prstGeom prst="rect">
            <a:avLst/>
          </a:prstGeom>
          <a:solidFill>
            <a:srgbClr val="005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4919472"/>
            <a:ext cx="20116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Other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4846320"/>
            <a:ext cx="8321040" cy="56692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0" y="4919472"/>
            <a:ext cx="795527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>
                <a:solidFill>
                  <a:srgbClr val="0F1B2D"/>
                </a:solidFill>
                <a:latin typeface="Arial"/>
              </a:rPr>
              <a:t>msclkid · keyword · promo · site_source_name · products · total · notes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5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0F1B2D"/>
                </a:solidFill>
                <a:latin typeface="Arial"/>
              </a:rPr>
              <a:t>Promos &amp; Scale (Platform × Promo × Form)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4846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005691"/>
                </a:solidFill>
                <a:latin typeface="Arial"/>
              </a:rPr>
              <a:t>•  </a:t>
            </a:r>
            <a:r>
              <a:rPr sz="1600" b="1">
                <a:solidFill>
                  <a:srgbClr val="0F1B2D"/>
                </a:solidFill>
                <a:latin typeface="Arial"/>
              </a:rPr>
              <a:t>Promos tab: create a promo per platform, then 'Generate Short + Full' forms.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005691"/>
                </a:solidFill>
                <a:latin typeface="Arial"/>
              </a:rPr>
              <a:t>•  </a:t>
            </a:r>
            <a:r>
              <a:rPr sz="1600" b="1">
                <a:solidFill>
                  <a:srgbClr val="0F1B2D"/>
                </a:solidFill>
                <a:latin typeface="Arial"/>
              </a:rPr>
              <a:t>Tracking defaults follow the platform: Meta → Meta Pixel · Google → Google Ads · TikTok → TikTok.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005691"/>
                </a:solidFill>
                <a:latin typeface="Arial"/>
              </a:rPr>
              <a:t>•  </a:t>
            </a:r>
            <a:r>
              <a:rPr sz="1600" b="0">
                <a:solidFill>
                  <a:srgbClr val="0F1B2D"/>
                </a:solidFill>
                <a:latin typeface="Arial"/>
              </a:rPr>
              <a:t>Supports hundreds of combos — e.g. 10 promos × 5 platforms × 2 forms = 100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005691"/>
                </a:solidFill>
                <a:latin typeface="Arial"/>
              </a:rPr>
              <a:t>•  </a:t>
            </a:r>
            <a:r>
              <a:rPr sz="1600" b="0">
                <a:solidFill>
                  <a:srgbClr val="0F1B2D"/>
                </a:solidFill>
                <a:latin typeface="Arial"/>
              </a:rPr>
              <a:t>All forms remain independently editable (separate tracking toggles &amp; pixel IDs)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Promos — Generate Short + Full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9FB0C4"/>
                </a:solidFill>
                <a:latin typeface="Arial"/>
              </a:rPr>
              <a:t>Live view of the dashboard / form</a:t>
            </a:r>
          </a:p>
        </p:txBody>
      </p:sp>
      <p:pic>
        <p:nvPicPr>
          <p:cNvPr id="5" name="Picture 4" descr="prom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9431" y="1417320"/>
            <a:ext cx="7672832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5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0F1B2D"/>
                </a:solidFill>
                <a:latin typeface="Arial"/>
              </a:rPr>
              <a:t>Order Management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4846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005691"/>
                </a:solidFill>
                <a:latin typeface="Arial"/>
              </a:rPr>
              <a:t>•  </a:t>
            </a:r>
            <a:r>
              <a:rPr sz="1600" b="0">
                <a:solidFill>
                  <a:srgbClr val="0F1B2D"/>
                </a:solidFill>
                <a:latin typeface="Arial"/>
              </a:rPr>
              <a:t>List all orders with search + filters (platform, form, status, date)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005691"/>
                </a:solidFill>
                <a:latin typeface="Arial"/>
              </a:rPr>
              <a:t>•  </a:t>
            </a:r>
            <a:r>
              <a:rPr sz="1600" b="0">
                <a:solidFill>
                  <a:srgbClr val="0F1B2D"/>
                </a:solidFill>
                <a:latin typeface="Arial"/>
              </a:rPr>
              <a:t>Statuses (editable + notes/reason): Draft → Submitted → Valid → Connected → Not Connected → Deal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005691"/>
                </a:solidFill>
                <a:latin typeface="Arial"/>
              </a:rPr>
              <a:t>•  </a:t>
            </a:r>
            <a:r>
              <a:rPr sz="1600" b="0">
                <a:solidFill>
                  <a:srgbClr val="0F1B2D"/>
                </a:solidFill>
                <a:latin typeface="Arial"/>
              </a:rPr>
              <a:t>Detail modal: full lead + tracking + products/total + events, edit status &amp; notes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005691"/>
                </a:solidFill>
                <a:latin typeface="Arial"/>
              </a:rPr>
              <a:t>•  </a:t>
            </a:r>
            <a:r>
              <a:rPr sz="1600" b="0">
                <a:solidFill>
                  <a:srgbClr val="0F1B2D"/>
                </a:solidFill>
                <a:latin typeface="Arial"/>
              </a:rPr>
              <a:t>'Columns' button → popup to choose which detail columns to show (Save / Cancel)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005691"/>
                </a:solidFill>
                <a:latin typeface="Arial"/>
              </a:rPr>
              <a:t>•  </a:t>
            </a:r>
            <a:r>
              <a:rPr sz="1600" b="0">
                <a:solidFill>
                  <a:srgbClr val="0F1B2D"/>
                </a:solidFill>
                <a:latin typeface="Arial"/>
              </a:rPr>
              <a:t>Add manual order (with product selection) · Delete · Export CSV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005691"/>
                </a:solidFill>
                <a:latin typeface="Arial"/>
              </a:rPr>
              <a:t>•  </a:t>
            </a:r>
            <a:r>
              <a:rPr sz="1600" b="0">
                <a:solidFill>
                  <a:srgbClr val="0F1B2D"/>
                </a:solidFill>
                <a:latin typeface="Arial"/>
              </a:rPr>
              <a:t>UI is in English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Order Management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9FB0C4"/>
                </a:solidFill>
                <a:latin typeface="Arial"/>
              </a:rPr>
              <a:t>Live view of the dashboard / form</a:t>
            </a:r>
          </a:p>
        </p:txBody>
      </p:sp>
      <p:pic>
        <p:nvPicPr>
          <p:cNvPr id="5" name="Picture 4" descr="ord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9431" y="1417320"/>
            <a:ext cx="7672832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Form Settings — Tracking Toggles &amp; Pixel IDs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9FB0C4"/>
                </a:solidFill>
                <a:latin typeface="Arial"/>
              </a:rPr>
              <a:t>Live view of the dashboard / form</a:t>
            </a:r>
          </a:p>
        </p:txBody>
      </p:sp>
      <p:pic>
        <p:nvPicPr>
          <p:cNvPr id="5" name="Picture 4" descr="for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9431" y="1417320"/>
            <a:ext cx="7672832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5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0F1B2D"/>
                </a:solidFill>
                <a:latin typeface="Arial"/>
              </a:rPr>
              <a:t>Google Sheet Mirror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4846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005691"/>
                </a:solidFill>
                <a:latin typeface="Arial"/>
              </a:rPr>
              <a:t>•  </a:t>
            </a:r>
            <a:r>
              <a:rPr sz="1600" b="0">
                <a:solidFill>
                  <a:srgbClr val="0F1B2D"/>
                </a:solidFill>
                <a:latin typeface="Arial"/>
              </a:rPr>
              <a:t>Ships its own Apps Script (apps-script/Code.gs)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005691"/>
                </a:solidFill>
                <a:latin typeface="Arial"/>
              </a:rPr>
              <a:t>•  </a:t>
            </a:r>
            <a:r>
              <a:rPr sz="1600" b="0">
                <a:solidFill>
                  <a:srgbClr val="0F1B2D"/>
                </a:solidFill>
                <a:latin typeface="Arial"/>
              </a:rPr>
              <a:t>Creates a brand-new spreadsheet 'Form Order System - Leads' automatically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005691"/>
                </a:solidFill>
                <a:latin typeface="Arial"/>
              </a:rPr>
              <a:t>•  </a:t>
            </a:r>
            <a:r>
              <a:rPr sz="1600" b="0">
                <a:solidFill>
                  <a:srgbClr val="0F1B2D"/>
                </a:solidFill>
                <a:latin typeface="Arial"/>
              </a:rPr>
              <a:t>NEVER touches your existing spreadsheet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005691"/>
                </a:solidFill>
                <a:latin typeface="Arial"/>
              </a:rPr>
              <a:t>•  </a:t>
            </a:r>
            <a:r>
              <a:rPr sz="1600" b="0">
                <a:solidFill>
                  <a:srgbClr val="0F1B2D"/>
                </a:solidFill>
                <a:latin typeface="Arial"/>
              </a:rPr>
              <a:t>Set config.json → googleSheetWebAppUrl = your /exec URL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005691"/>
                </a:solidFill>
                <a:latin typeface="Arial"/>
              </a:rPr>
              <a:t>•  </a:t>
            </a:r>
            <a:r>
              <a:rPr sz="1600" b="0">
                <a:solidFill>
                  <a:srgbClr val="0F1B2D"/>
                </a:solidFill>
                <a:latin typeface="Arial"/>
              </a:rPr>
              <a:t>Every submission then writes to BOTH the dashboard (JSON) and the new sheet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5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0F1B2D"/>
                </a:solidFill>
                <a:latin typeface="Arial"/>
              </a:rPr>
              <a:t>Tech &amp; Files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4846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005691"/>
                </a:solidFill>
                <a:latin typeface="Arial"/>
              </a:rPr>
              <a:t>•  </a:t>
            </a:r>
            <a:r>
              <a:rPr sz="1600" b="0">
                <a:solidFill>
                  <a:srgbClr val="0F1B2D"/>
                </a:solidFill>
                <a:latin typeface="Arial"/>
              </a:rPr>
              <a:t>Node.js (zero dependencies) + JSON storage + static dashboard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005691"/>
                </a:solidFill>
                <a:latin typeface="Arial"/>
              </a:rPr>
              <a:t>•  </a:t>
            </a:r>
            <a:r>
              <a:rPr sz="1600" b="0">
                <a:solidFill>
                  <a:srgbClr val="0F1B2D"/>
                </a:solidFill>
                <a:latin typeface="Arial"/>
              </a:rPr>
              <a:t>server.js — REST API; data/ — runtime JSON (orders, forms, products, promos)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005691"/>
                </a:solidFill>
                <a:latin typeface="Arial"/>
              </a:rPr>
              <a:t>•  </a:t>
            </a:r>
            <a:r>
              <a:rPr sz="1600" b="0">
                <a:solidFill>
                  <a:srgbClr val="0F1B2D"/>
                </a:solidFill>
                <a:latin typeface="Arial"/>
              </a:rPr>
              <a:t>public/tracker/bcs-tracker.js — embeddable tracking snippet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005691"/>
                </a:solidFill>
                <a:latin typeface="Arial"/>
              </a:rPr>
              <a:t>•  </a:t>
            </a:r>
            <a:r>
              <a:rPr sz="1600" b="0">
                <a:solidFill>
                  <a:srgbClr val="0F1B2D"/>
                </a:solidFill>
                <a:latin typeface="Arial"/>
              </a:rPr>
              <a:t>public/index.html + app.js + styles.css — dashboard (Orders, Promos, Form Settings, Products)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005691"/>
                </a:solidFill>
                <a:latin typeface="Arial"/>
              </a:rPr>
              <a:t>•  </a:t>
            </a:r>
            <a:r>
              <a:rPr sz="1600" b="0">
                <a:solidFill>
                  <a:srgbClr val="0F1B2D"/>
                </a:solidFill>
                <a:latin typeface="Arial"/>
              </a:rPr>
              <a:t>apps-script/Code.gs — new Apps Script → new spreadsheet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005691"/>
                </a:solidFill>
                <a:latin typeface="Arial"/>
              </a:rPr>
              <a:t>•  </a:t>
            </a:r>
            <a:r>
              <a:rPr sz="1600" b="0">
                <a:solidFill>
                  <a:srgbClr val="0F1B2D"/>
                </a:solidFill>
                <a:latin typeface="Arial"/>
              </a:rPr>
              <a:t>Run: node server.js  →  Dashboard at http://localhost:3000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Products / 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9FB0C4"/>
                </a:solidFill>
                <a:latin typeface="Arial"/>
              </a:rPr>
              <a:t>Live view of the dashboard / form</a:t>
            </a:r>
          </a:p>
        </p:txBody>
      </p:sp>
      <p:pic>
        <p:nvPicPr>
          <p:cNvPr id="5" name="Picture 4" descr="produ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9431" y="1417320"/>
            <a:ext cx="7672832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5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0F1B2D"/>
                </a:solidFill>
                <a:latin typeface="Arial"/>
              </a:rPr>
              <a:t>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4846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005691"/>
                </a:solidFill>
                <a:latin typeface="Arial"/>
              </a:rPr>
              <a:t>•  </a:t>
            </a:r>
            <a:r>
              <a:rPr sz="1600" b="0">
                <a:solidFill>
                  <a:srgbClr val="0F1B2D"/>
                </a:solidFill>
                <a:latin typeface="Arial"/>
              </a:rPr>
              <a:t>Verified: server boots, all API endpoints respond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005691"/>
                </a:solidFill>
                <a:latin typeface="Arial"/>
              </a:rPr>
              <a:t>•  </a:t>
            </a:r>
            <a:r>
              <a:rPr sz="1600" b="0">
                <a:solidFill>
                  <a:srgbClr val="0F1B2D"/>
                </a:solidFill>
                <a:latin typeface="Arial"/>
              </a:rPr>
              <a:t>Form submits → recorded in dashboard (confirmed with real submissions)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005691"/>
                </a:solidFill>
                <a:latin typeface="Arial"/>
              </a:rPr>
              <a:t>•  </a:t>
            </a:r>
            <a:r>
              <a:rPr sz="1600" b="0">
                <a:solidFill>
                  <a:srgbClr val="0F1B2D"/>
                </a:solidFill>
                <a:latin typeface="Arial"/>
              </a:rPr>
              <a:t>Google Sheet created + mirror active (existing sheet untouched)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005691"/>
                </a:solidFill>
                <a:latin typeface="Arial"/>
              </a:rPr>
              <a:t>•  </a:t>
            </a:r>
            <a:r>
              <a:rPr sz="1600" b="0">
                <a:solidFill>
                  <a:srgbClr val="0F1B2D"/>
                </a:solidFill>
                <a:latin typeface="Arial"/>
              </a:rPr>
              <a:t>Pixel ID fields save &amp; are used when firing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005691"/>
                </a:solidFill>
                <a:latin typeface="Arial"/>
              </a:rPr>
              <a:t>•  </a:t>
            </a:r>
            <a:r>
              <a:rPr sz="1600" b="0">
                <a:solidFill>
                  <a:srgbClr val="0F1B2D"/>
                </a:solidFill>
                <a:latin typeface="Arial"/>
              </a:rPr>
              <a:t>Pushed to GitHub: github.com/aryagpradana97-byte/form-order-system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